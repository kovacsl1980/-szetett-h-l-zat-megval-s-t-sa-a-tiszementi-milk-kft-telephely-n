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847055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9FD"/>
                </a:solidFill>
                <a:latin typeface="Aptos Display"/>
              </a:defRPr>
            </a:pPr>
            <a:r>
              <a:rPr dirty="0"/>
              <a:t>PROJEKTBEMUTATÓ</a:t>
            </a:r>
          </a:p>
          <a:p>
            <a:pPr>
              <a:defRPr sz="2200" b="1">
                <a:solidFill>
                  <a:srgbClr val="3DDCFF"/>
                </a:solidFill>
                <a:latin typeface="Aptos Display"/>
              </a:defRPr>
            </a:pPr>
            <a:r>
              <a:rPr lang="hu-HU" dirty="0" err="1"/>
              <a:t>Öszetett</a:t>
            </a:r>
            <a:r>
              <a:rPr lang="hu-HU" dirty="0"/>
              <a:t> h</a:t>
            </a:r>
            <a:r>
              <a:rPr dirty="0" err="1"/>
              <a:t>álózati</a:t>
            </a:r>
            <a:r>
              <a:rPr dirty="0"/>
              <a:t> </a:t>
            </a:r>
            <a:r>
              <a:rPr dirty="0" err="1"/>
              <a:t>infrastruktúra</a:t>
            </a:r>
            <a:r>
              <a:rPr lang="hu-HU" dirty="0"/>
              <a:t> megvalósítása a Tiszamenti </a:t>
            </a:r>
            <a:r>
              <a:rPr lang="hu-HU" dirty="0" err="1"/>
              <a:t>Milk</a:t>
            </a:r>
            <a:r>
              <a:rPr lang="hu-HU" dirty="0"/>
              <a:t> </a:t>
            </a:r>
            <a:r>
              <a:rPr lang="hu-HU"/>
              <a:t>Kft telephelyén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" y="1847088"/>
            <a:ext cx="141732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DDCFF"/>
                </a:solidFill>
                <a:latin typeface="Aptos"/>
              </a:defRPr>
            </a:pPr>
            <a:r>
              <a:t>POWERBEAM M5 400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847088"/>
            <a:ext cx="713232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082FF"/>
                </a:solidFill>
                <a:latin typeface="Aptos"/>
              </a:defRPr>
            </a:pPr>
            <a:r>
              <a:t>5 GHz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47088"/>
            <a:ext cx="91440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3DCA0"/>
                </a:solidFill>
                <a:latin typeface="Aptos"/>
              </a:defRPr>
            </a:pPr>
            <a:r>
              <a:t>MIKROTIK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95928" y="1847088"/>
            <a:ext cx="82296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FF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B04A"/>
                </a:solidFill>
                <a:latin typeface="Aptos"/>
              </a:defRPr>
            </a:pPr>
            <a:r>
              <a:t>NETXMS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989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9FD"/>
                </a:solidFill>
                <a:latin typeface="Aptos"/>
              </a:defRPr>
            </a:pPr>
            <a:r>
              <a:t>Vezetékes + vezeték nélküli hálózat • monitoring • biztonság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01 • ÁTTEKINTÉS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A hálózat egy pillanatban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 projekt legfontosabb technológiái és szerepkörei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37360"/>
            <a:ext cx="2560320" cy="150876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KÖZPONTI VEZÉRLÉS</a:t>
            </a:r>
          </a:p>
          <a:p>
            <a:pPr>
              <a:defRPr sz="2200" b="1">
                <a:solidFill>
                  <a:srgbClr val="3DDCFF"/>
                </a:solidFill>
                <a:latin typeface="Aptos Display"/>
              </a:defRPr>
            </a:pPr>
            <a:r>
              <a:t>MikroTik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RouterOS • útválasztás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737360"/>
            <a:ext cx="54864" cy="150876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83280" y="1737360"/>
            <a:ext cx="2560320" cy="150876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RÁDIÓS GERINC</a:t>
            </a:r>
          </a:p>
          <a:p>
            <a:pPr>
              <a:defRPr sz="2200" b="1">
                <a:solidFill>
                  <a:srgbClr val="3082FF"/>
                </a:solidFill>
                <a:latin typeface="Aptos Display"/>
              </a:defRPr>
            </a:pPr>
            <a:r>
              <a:t>PowerBeam M5 400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pont–pont • 5 GHz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737360"/>
            <a:ext cx="54864" cy="1508760"/>
          </a:xfrm>
          <a:prstGeom prst="rect">
            <a:avLst/>
          </a:prstGeom>
          <a:solidFill>
            <a:srgbClr val="3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26480" y="1737360"/>
            <a:ext cx="2560320" cy="150876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KITERJESZTÉS</a:t>
            </a:r>
          </a:p>
          <a:p>
            <a:pPr>
              <a:defRPr sz="2200" b="1">
                <a:solidFill>
                  <a:srgbClr val="53DCA0"/>
                </a:solidFill>
                <a:latin typeface="Aptos Display"/>
              </a:defRPr>
            </a:pPr>
            <a:r>
              <a:t>Rocket M5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szektor • kliensek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37360"/>
            <a:ext cx="54864" cy="1508760"/>
          </a:xfrm>
          <a:prstGeom prst="rect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69680" y="1737360"/>
            <a:ext cx="2560320" cy="150876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FELÜGYELET</a:t>
            </a:r>
          </a:p>
          <a:p>
            <a:pPr>
              <a:defRPr sz="2200" b="1">
                <a:solidFill>
                  <a:srgbClr val="FFB04A"/>
                </a:solidFill>
                <a:latin typeface="Aptos Display"/>
              </a:defRPr>
            </a:pPr>
            <a:r>
              <a:t>NetXMS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elérhetőség • hibák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737360"/>
            <a:ext cx="54864" cy="1508760"/>
          </a:xfrm>
          <a:prstGeom prst="rect">
            <a:avLst/>
          </a:prstGeom>
          <a:solidFill>
            <a:srgbClr val="FF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789920" cy="1325880"/>
          </a:xfrm>
          <a:prstGeom prst="roundRect">
            <a:avLst/>
          </a:prstGeom>
          <a:solidFill>
            <a:srgbClr val="13304E"/>
          </a:solidFill>
          <a:ln>
            <a:solidFill>
              <a:srgbClr val="23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5F9FD"/>
                </a:solidFill>
                <a:latin typeface="Aptos Display"/>
              </a:defRPr>
            </a:pPr>
            <a:r>
              <a:t>A cél: stabil kapcsolat, átlátható topológia és folyamatos ellenőrizhetőség.</a:t>
            </a:r>
          </a:p>
          <a:p>
            <a:pPr algn="ctr">
              <a:defRPr sz="1000">
                <a:solidFill>
                  <a:srgbClr val="A6BCD2"/>
                </a:solidFill>
                <a:latin typeface="Aptos"/>
              </a:defRPr>
            </a:pPr>
            <a:r>
              <a:t>Statikus IP-címzés • Ethernet • 5 GHz-es rádiós kapcsolat •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02 • ADATÚT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Hogyan jut el a kapcsolat A-ból B-be?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 fő adatút egyszerűsített, előadásbarát nézetben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1645920" cy="96012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Internet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Telekom optika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48840"/>
            <a:ext cx="1645920" cy="96012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MikroTik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Server / 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48840"/>
            <a:ext cx="1645920" cy="96012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TP-Link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Gigabit Switch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148840"/>
            <a:ext cx="1645920" cy="96012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PowerBeam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M5 400 • 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148840"/>
            <a:ext cx="1645920" cy="96012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PowerBeam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M5 400 • kliens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2633472"/>
            <a:ext cx="457200" cy="0"/>
          </a:xfrm>
          <a:prstGeom prst="line">
            <a:avLst/>
          </a:prstGeom>
          <a:ln w="27940">
            <a:solidFill>
              <a:srgbClr val="539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12848" y="1993392"/>
            <a:ext cx="749808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A6B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6BCD2"/>
                </a:solidFill>
                <a:latin typeface="Aptos"/>
              </a:defRPr>
            </a:pPr>
            <a:r>
              <a:t>ETHERNET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89120" y="2633472"/>
            <a:ext cx="457200" cy="0"/>
          </a:xfrm>
          <a:prstGeom prst="line">
            <a:avLst/>
          </a:prstGeom>
          <a:ln w="27940">
            <a:solidFill>
              <a:srgbClr val="539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15968" y="1993392"/>
            <a:ext cx="749808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A6B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6BCD2"/>
                </a:solidFill>
                <a:latin typeface="Aptos"/>
              </a:defRPr>
            </a:pPr>
            <a:r>
              <a:t>ETHERNET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92240" y="2633472"/>
            <a:ext cx="457200" cy="0"/>
          </a:xfrm>
          <a:prstGeom prst="line">
            <a:avLst/>
          </a:prstGeom>
          <a:ln w="27940">
            <a:solidFill>
              <a:srgbClr val="539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19088" y="1993392"/>
            <a:ext cx="749808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A6B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6BCD2"/>
                </a:solidFill>
                <a:latin typeface="Aptos"/>
              </a:defRPr>
            </a:pPr>
            <a:r>
              <a:t>ETHERNET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95360" y="2633472"/>
            <a:ext cx="640080" cy="0"/>
          </a:xfrm>
          <a:prstGeom prst="line">
            <a:avLst/>
          </a:prstGeom>
          <a:ln w="27940">
            <a:solidFill>
              <a:srgbClr val="3DDC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18120" y="3154680"/>
            <a:ext cx="160020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DDCFF"/>
                </a:solidFill>
                <a:latin typeface="Aptos"/>
              </a:defRPr>
            </a:pPr>
            <a:r>
              <a:t>5 GHz • PONT–PONT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4160520"/>
            <a:ext cx="1828800" cy="91440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TP-Link Switch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távoli hálózat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4160520"/>
            <a:ext cx="1600200" cy="91440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Rocket M5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szektor / kliens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366760" y="3108960"/>
            <a:ext cx="1691640" cy="1051560"/>
          </a:xfrm>
          <a:prstGeom prst="line">
            <a:avLst/>
          </a:prstGeom>
          <a:ln w="27940">
            <a:solidFill>
              <a:srgbClr val="30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81160" y="4617720"/>
            <a:ext cx="457200" cy="0"/>
          </a:xfrm>
          <a:prstGeom prst="line">
            <a:avLst/>
          </a:prstGeom>
          <a:ln w="27940">
            <a:solidFill>
              <a:srgbClr val="53D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38160" y="5486400"/>
            <a:ext cx="274320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3DCA0"/>
                </a:solidFill>
                <a:latin typeface="Aptos"/>
              </a:defRPr>
            </a:pPr>
            <a:r>
              <a:t>TOVÁBBI VEZETÉK NÉLKÜLI KLIENSEK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03 • TOPOLOGIA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A fizikai felépítés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Az eredeti projekt topológiája nagyban, kiemelve a fő gerincet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508760"/>
            <a:ext cx="10972800" cy="4663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28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4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27632"/>
            <a:ext cx="3422996" cy="44348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7240" y="1874519"/>
            <a:ext cx="96012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DDCFF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304288"/>
            <a:ext cx="96012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3DCA0"/>
                </a:solidFill>
                <a:latin typeface="Aptos"/>
              </a:defRPr>
            </a:pPr>
            <a:r>
              <a:t>MIKROTIK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734056"/>
            <a:ext cx="82296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082FF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63824"/>
            <a:ext cx="100584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DDCFF"/>
                </a:solidFill>
                <a:latin typeface="Aptos"/>
              </a:defRPr>
            </a:pPr>
            <a:r>
              <a:t>POWERBEAM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93592"/>
            <a:ext cx="100584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3DCA0"/>
                </a:solidFill>
                <a:latin typeface="Aptos"/>
              </a:defRPr>
            </a:pPr>
            <a:r>
              <a:t>ROCKET M5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23360"/>
            <a:ext cx="91440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FF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B04A"/>
                </a:solidFill>
                <a:latin typeface="Aptos"/>
              </a:defRPr>
            </a:pPr>
            <a:r>
              <a:t>KAMERÁK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1874519"/>
            <a:ext cx="15087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F5F9FD"/>
                </a:solidFill>
                <a:latin typeface="Aptos"/>
              </a:defRPr>
            </a:pPr>
            <a:r>
              <a:t>Ethernet</a:t>
            </a:r>
          </a:p>
          <a:p>
            <a:pPr>
              <a:spcAft>
                <a:spcPts val="1200"/>
              </a:spcAft>
              <a:defRPr sz="1000">
                <a:solidFill>
                  <a:srgbClr val="F5F9FD"/>
                </a:solidFill>
                <a:latin typeface="Aptos"/>
              </a:defRPr>
            </a:pPr>
            <a:r>
              <a:t>5 GHz rádiós link</a:t>
            </a:r>
          </a:p>
          <a:p>
            <a:pPr>
              <a:spcAft>
                <a:spcPts val="1200"/>
              </a:spcAft>
              <a:defRPr sz="1000">
                <a:solidFill>
                  <a:srgbClr val="F5F9FD"/>
                </a:solidFill>
                <a:latin typeface="Aptos"/>
              </a:defRPr>
            </a:pPr>
            <a:r>
              <a:t>szektoros Wi‑Fi</a:t>
            </a:r>
          </a:p>
          <a:p>
            <a:pPr>
              <a:spcAft>
                <a:spcPts val="1200"/>
              </a:spcAft>
              <a:defRPr sz="1000">
                <a:solidFill>
                  <a:srgbClr val="F5F9FD"/>
                </a:solidFill>
                <a:latin typeface="Aptos"/>
              </a:defRPr>
            </a:pPr>
            <a:r>
              <a:t>IP-kamerák</a:t>
            </a:r>
          </a:p>
          <a:p>
            <a:pPr>
              <a:spcAft>
                <a:spcPts val="1200"/>
              </a:spcAft>
              <a:defRPr sz="1000">
                <a:solidFill>
                  <a:srgbClr val="F5F9FD"/>
                </a:solidFill>
                <a:latin typeface="Aptos"/>
              </a:defRPr>
            </a:pPr>
            <a:r>
              <a:t>belső irodai 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04 • SZIMULÁCIÓ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Packet Tracer – a hálózat szimulációja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 logikai topológia szemléltetése Cisco Packet Tracerben</a:t>
            </a:r>
          </a:p>
        </p:txBody>
      </p:sp>
      <p:pic>
        <p:nvPicPr>
          <p:cNvPr id="14" name="Picture 13" descr="1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7498079" cy="683724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412480" y="1691640"/>
            <a:ext cx="2834640" cy="114300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MODELLEZÉS</a:t>
            </a:r>
          </a:p>
          <a:p>
            <a:pPr>
              <a:defRPr sz="2200" b="1">
                <a:solidFill>
                  <a:srgbClr val="3DDCFF"/>
                </a:solidFill>
                <a:latin typeface="Aptos Display"/>
              </a:defRPr>
            </a:pPr>
            <a:r>
              <a:t>Logikai topológia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eszközök és kapcsolatok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691640"/>
            <a:ext cx="54864" cy="114300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0" y="3017520"/>
            <a:ext cx="2834640" cy="114300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KAPCSOLATOK</a:t>
            </a:r>
          </a:p>
          <a:p>
            <a:pPr>
              <a:defRPr sz="2200" b="1">
                <a:solidFill>
                  <a:srgbClr val="3082FF"/>
                </a:solidFill>
                <a:latin typeface="Aptos Display"/>
              </a:defRPr>
            </a:pPr>
            <a:r>
              <a:t>Ethernet + rádiós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a projekt felépítését követve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017520"/>
            <a:ext cx="54864" cy="1143000"/>
          </a:xfrm>
          <a:prstGeom prst="rect">
            <a:avLst/>
          </a:prstGeom>
          <a:solidFill>
            <a:srgbClr val="3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0" y="4343400"/>
            <a:ext cx="2834640" cy="114300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CÉL</a:t>
            </a:r>
          </a:p>
          <a:p>
            <a:pPr>
              <a:defRPr sz="2200" b="1">
                <a:solidFill>
                  <a:srgbClr val="53DCA0"/>
                </a:solidFill>
                <a:latin typeface="Aptos Display"/>
              </a:defRPr>
            </a:pPr>
            <a:r>
              <a:t>Működés ellenőrzése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útvonalak és elérhetőség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343400"/>
            <a:ext cx="54864" cy="1143000"/>
          </a:xfrm>
          <a:prstGeom prst="rect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49640" y="5715000"/>
            <a:ext cx="256032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FF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B04A"/>
                </a:solidFill>
                <a:latin typeface="Aptos"/>
              </a:defRPr>
            </a:pPr>
            <a:r>
              <a:t>A SZIMULÁCIÓ NEM A FIZIKAI RÁDIÓT UTÁNOZZA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05 • RÁDIÓS KAPCSOLAT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PowerBeam M5 400 – a rádiós gerinc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 pont–pont összeköttetés kulcseleme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554480"/>
            <a:ext cx="4937760" cy="4434840"/>
          </a:xfrm>
          <a:prstGeom prst="roundRect">
            <a:avLst/>
          </a:prstGeom>
          <a:solidFill>
            <a:srgbClr val="ECF1F6"/>
          </a:solidFill>
          <a:ln w="1524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9_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480560" cy="358255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89320" y="1645920"/>
            <a:ext cx="2468880" cy="114300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TECHNOLÓGIA</a:t>
            </a:r>
          </a:p>
          <a:p>
            <a:pPr>
              <a:defRPr sz="2200" b="1">
                <a:solidFill>
                  <a:srgbClr val="3DDCFF"/>
                </a:solidFill>
                <a:latin typeface="Aptos Display"/>
              </a:defRPr>
            </a:pPr>
            <a:r>
              <a:t>5 GHz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vezeték nélküli kapcsolat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645920"/>
            <a:ext cx="54864" cy="114300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732520" y="1645920"/>
            <a:ext cx="2468880" cy="114300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KAPCSOLAT</a:t>
            </a:r>
          </a:p>
          <a:p>
            <a:pPr>
              <a:defRPr sz="2200" b="1">
                <a:solidFill>
                  <a:srgbClr val="3082FF"/>
                </a:solidFill>
                <a:latin typeface="Aptos Display"/>
              </a:defRPr>
            </a:pPr>
            <a:r>
              <a:t>Pont–pont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két PowerBeam között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645920"/>
            <a:ext cx="54864" cy="1143000"/>
          </a:xfrm>
          <a:prstGeom prst="rect">
            <a:avLst/>
          </a:prstGeom>
          <a:solidFill>
            <a:srgbClr val="3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1546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5F9FD"/>
                </a:solidFill>
                <a:latin typeface="Aptos"/>
              </a:defRPr>
            </a:pPr>
            <a:r>
              <a:t>A PowerBeam M5 400 biztosítja a rádiós gerinchálózatot.</a:t>
            </a:r>
          </a:p>
          <a:p>
            <a:pPr>
              <a:spcAft>
                <a:spcPts val="900"/>
              </a:spcAft>
              <a:defRPr sz="1200">
                <a:solidFill>
                  <a:srgbClr val="F5F9FD"/>
                </a:solidFill>
                <a:latin typeface="Aptos"/>
              </a:defRPr>
            </a:pPr>
            <a:r>
              <a:t>A kapcsolat a hálózati összeköttetést két telephely / hálózati rész között teremti meg.</a:t>
            </a:r>
          </a:p>
          <a:p>
            <a:pPr>
              <a:spcAft>
                <a:spcPts val="900"/>
              </a:spcAft>
              <a:defRPr sz="1200">
                <a:solidFill>
                  <a:srgbClr val="F5F9FD"/>
                </a:solidFill>
                <a:latin typeface="Aptos"/>
              </a:defRPr>
            </a:pPr>
            <a:r>
              <a:t>A további hálózati elemek Etherneten kapcsolódnak a rádiós végpontokhoz.</a:t>
            </a:r>
          </a:p>
        </p:txBody>
      </p:sp>
      <p:sp>
        <p:nvSpPr>
          <p:cNvPr id="21" name="Oval 20"/>
          <p:cNvSpPr/>
          <p:nvPr/>
        </p:nvSpPr>
        <p:spPr>
          <a:xfrm>
            <a:off x="6108192" y="3236976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3547872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08192" y="3858768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0" y="5394960"/>
            <a:ext cx="155448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3DCA0"/>
                </a:solidFill>
                <a:latin typeface="Aptos"/>
              </a:defRPr>
            </a:pPr>
            <a:r>
              <a:t>STABIL GERINCKAPCSOLAT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5394960"/>
            <a:ext cx="123444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DDCFF"/>
                </a:solidFill>
                <a:latin typeface="Aptos"/>
              </a:defRPr>
            </a:pPr>
            <a:r>
              <a:t>KÜLTÉRI RÁDIÓ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5394960"/>
            <a:ext cx="73152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082FF"/>
                </a:solidFill>
                <a:latin typeface="Aptos"/>
              </a:defRPr>
            </a:pPr>
            <a:r>
              <a:t>5 GHz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06 • LOGIKAI HÁLÓZAT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IP-címzés és útválasztás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 logikai működés egyszerűsített nézete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20240"/>
            <a:ext cx="2103120" cy="105156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Kliens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belső hálózat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20240"/>
            <a:ext cx="2103120" cy="105156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MikroTik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gateway / 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920240"/>
            <a:ext cx="2103120" cy="105156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Helyi hálózat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192.168.10.0/24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920240"/>
            <a:ext cx="1828800" cy="105156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FF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Internet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0.0.0.0/0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450592"/>
            <a:ext cx="822960" cy="0"/>
          </a:xfrm>
          <a:prstGeom prst="line">
            <a:avLst/>
          </a:prstGeom>
          <a:ln w="27940">
            <a:solidFill>
              <a:srgbClr val="53D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720" y="2450592"/>
            <a:ext cx="822960" cy="0"/>
          </a:xfrm>
          <a:prstGeom prst="line">
            <a:avLst/>
          </a:prstGeom>
          <a:ln w="27940">
            <a:solidFill>
              <a:srgbClr val="3D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450592"/>
            <a:ext cx="822960" cy="0"/>
          </a:xfrm>
          <a:prstGeom prst="line">
            <a:avLst/>
          </a:prstGeom>
          <a:ln w="27940">
            <a:solidFill>
              <a:srgbClr val="FF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2880360"/>
            <a:ext cx="77724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3DCA0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70448" y="2880360"/>
            <a:ext cx="96012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082FF"/>
                </a:solidFill>
                <a:latin typeface="Aptos"/>
              </a:defRPr>
            </a:pPr>
            <a:r>
              <a:t>STATIKUS 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880360"/>
            <a:ext cx="1691640" cy="310896"/>
          </a:xfrm>
          <a:prstGeom prst="roundRect">
            <a:avLst/>
          </a:prstGeom>
          <a:solidFill>
            <a:srgbClr val="12304D"/>
          </a:solidFill>
          <a:ln w="10160">
            <a:solidFill>
              <a:srgbClr val="FF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B04A"/>
                </a:solidFill>
                <a:latin typeface="Aptos"/>
              </a:defRPr>
            </a:pPr>
            <a:r>
              <a:t>ALAPÉRTELMEZETT ÚTVONAL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94760"/>
            <a:ext cx="10607040" cy="1417320"/>
          </a:xfrm>
          <a:prstGeom prst="roundRect">
            <a:avLst/>
          </a:prstGeom>
          <a:solidFill>
            <a:srgbClr val="0F243D"/>
          </a:solidFill>
          <a:ln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DDCFF"/>
                </a:solidFill>
                <a:latin typeface="Aptos"/>
              </a:defRPr>
            </a:pPr>
            <a:r>
              <a:t>Példa a projektben</a:t>
            </a:r>
          </a:p>
          <a:p>
            <a:pPr>
              <a:defRPr sz="2200" b="1">
                <a:solidFill>
                  <a:srgbClr val="F5F9FD"/>
                </a:solidFill>
                <a:latin typeface="Aptos Display"/>
              </a:defRPr>
            </a:pPr>
            <a:r>
              <a:t>0.0.0.0/0  →  192.168.1.1</a:t>
            </a:r>
          </a:p>
          <a:p>
            <a:pPr>
              <a:defRPr sz="1000">
                <a:solidFill>
                  <a:srgbClr val="A6BCD2"/>
                </a:solidFill>
                <a:latin typeface="Aptos"/>
              </a:defRPr>
            </a:pPr>
            <a:r>
              <a:t>A dokumentáció statikus címzést és a MikroTik központi útválasztó szerepét mutatja be.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07 •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Monitoring – nem csak akkor derül ki a hiba, amikor már baj van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NetXMS + Ubiquiti AirControl a felügyeletben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37360"/>
            <a:ext cx="4069080" cy="3154680"/>
          </a:xfrm>
          <a:prstGeom prst="roundRect">
            <a:avLst/>
          </a:prstGeom>
          <a:solidFill>
            <a:srgbClr val="081627"/>
          </a:solidFill>
          <a:ln w="1905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148840"/>
            <a:ext cx="1463040" cy="384048"/>
          </a:xfrm>
          <a:prstGeom prst="rect">
            <a:avLst/>
          </a:prstGeom>
          <a:solidFill>
            <a:srgbClr val="13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880360"/>
            <a:ext cx="1463040" cy="384048"/>
          </a:xfrm>
          <a:prstGeom prst="rect">
            <a:avLst/>
          </a:prstGeom>
          <a:solidFill>
            <a:srgbClr val="13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3611880"/>
            <a:ext cx="1463040" cy="384048"/>
          </a:xfrm>
          <a:prstGeom prst="rect">
            <a:avLst/>
          </a:prstGeom>
          <a:solidFill>
            <a:srgbClr val="13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977640"/>
            <a:ext cx="118872" cy="32004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749040"/>
            <a:ext cx="118872" cy="54864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29400" y="3886200"/>
            <a:ext cx="118872" cy="41148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0" y="3584448"/>
            <a:ext cx="118872" cy="713232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86600" y="3794760"/>
            <a:ext cx="118872" cy="50292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3493008"/>
            <a:ext cx="118872" cy="804672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3730752"/>
            <a:ext cx="118872" cy="56692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1874519"/>
            <a:ext cx="2560320" cy="123444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NETXMS</a:t>
            </a:r>
          </a:p>
          <a:p>
            <a:pPr>
              <a:defRPr sz="2200" b="1">
                <a:solidFill>
                  <a:srgbClr val="3DDCFF"/>
                </a:solidFill>
                <a:latin typeface="Aptos Display"/>
              </a:defRPr>
            </a:pPr>
            <a:r>
              <a:t>Elérhetőség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ping • ping watchdog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1874519"/>
            <a:ext cx="54864" cy="123444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383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kapcsolatkimaradások felismerése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végpontok állapotának ellenőrzése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hibák gyorsabb behatárolása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3465576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6384" y="3776472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86384" y="4087368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41080" y="1874519"/>
            <a:ext cx="2560320" cy="123444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AIRCONTROL</a:t>
            </a:r>
          </a:p>
          <a:p>
            <a:pPr>
              <a:defRPr sz="2200" b="1">
                <a:solidFill>
                  <a:srgbClr val="53DCA0"/>
                </a:solidFill>
                <a:latin typeface="Aptos Display"/>
              </a:defRPr>
            </a:pPr>
            <a:r>
              <a:t>Ubiquiti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rádiós eszközök felügyelete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1874519"/>
            <a:ext cx="54864" cy="1234440"/>
          </a:xfrm>
          <a:prstGeom prst="rect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59952" y="3383280"/>
            <a:ext cx="2743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rádiós eszközök áttekintése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kapcsolatok felügyelete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üzemeltetési támogatás</a:t>
            </a:r>
          </a:p>
        </p:txBody>
      </p:sp>
      <p:sp>
        <p:nvSpPr>
          <p:cNvPr id="34" name="Oval 33"/>
          <p:cNvSpPr/>
          <p:nvPr/>
        </p:nvSpPr>
        <p:spPr>
          <a:xfrm>
            <a:off x="8741664" y="3465576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41664" y="3776472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41664" y="4087368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3246120" y="2487168"/>
            <a:ext cx="822960" cy="0"/>
          </a:xfrm>
          <a:prstGeom prst="line">
            <a:avLst/>
          </a:prstGeom>
          <a:ln w="27940">
            <a:solidFill>
              <a:srgbClr val="3D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138160" y="2487168"/>
            <a:ext cx="502920" cy="0"/>
          </a:xfrm>
          <a:prstGeom prst="line">
            <a:avLst/>
          </a:prstGeom>
          <a:ln w="27940">
            <a:solidFill>
              <a:srgbClr val="53D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08 • KAMERARENDSZER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PoE és IP-kamerarendszer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Az adat és a tápellátás összehangolt hálózati kialakítása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874519"/>
            <a:ext cx="1645920" cy="91440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3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Switch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PoE / Ethernet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1874519"/>
            <a:ext cx="1645920" cy="91440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FF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Ethernet-kábel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adat + táp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874519"/>
            <a:ext cx="1645920" cy="914400"/>
          </a:xfrm>
          <a:prstGeom prst="roundRect">
            <a:avLst/>
          </a:prstGeom>
          <a:solidFill>
            <a:srgbClr val="0F243D"/>
          </a:solidFill>
          <a:ln w="1778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200" b="1">
                <a:solidFill>
                  <a:srgbClr val="F5F9FD"/>
                </a:solidFill>
                <a:latin typeface="Aptos"/>
              </a:defRPr>
            </a:pPr>
            <a:r>
              <a:t>IP-kamera</a:t>
            </a:r>
          </a:p>
          <a:p>
            <a:pPr algn="ctr">
              <a:defRPr sz="800">
                <a:solidFill>
                  <a:srgbClr val="A6BCD2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2331720"/>
            <a:ext cx="594360" cy="0"/>
          </a:xfrm>
          <a:prstGeom prst="line">
            <a:avLst/>
          </a:prstGeom>
          <a:ln w="27940">
            <a:solidFill>
              <a:srgbClr val="30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7720" y="2331720"/>
            <a:ext cx="594360" cy="0"/>
          </a:xfrm>
          <a:prstGeom prst="line">
            <a:avLst/>
          </a:prstGeom>
          <a:ln w="27940">
            <a:solidFill>
              <a:srgbClr val="FF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4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91640"/>
            <a:ext cx="4114800" cy="213969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" y="3429000"/>
            <a:ext cx="6126480" cy="1737360"/>
          </a:xfrm>
          <a:prstGeom prst="roundRect">
            <a:avLst/>
          </a:prstGeom>
          <a:solidFill>
            <a:srgbClr val="0F243D"/>
          </a:solidFill>
          <a:ln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800" b="1">
                <a:solidFill>
                  <a:srgbClr val="FFB04A"/>
                </a:solidFill>
                <a:latin typeface="Aptos Display"/>
              </a:defRPr>
            </a:pPr>
            <a:r>
              <a:t>Miért fontos a PoE?</a:t>
            </a:r>
          </a:p>
          <a:p>
            <a:pPr>
              <a:defRPr sz="1200">
                <a:solidFill>
                  <a:srgbClr val="F5F9FD"/>
                </a:solidFill>
                <a:latin typeface="Aptos"/>
              </a:defRPr>
            </a:pPr>
            <a:r>
              <a:t>A kompatibilis eszközöknél ugyanazon Ethernet-kábelen történhet az adatkapcsolat és a tápellátás.</a:t>
            </a:r>
          </a:p>
          <a:p>
            <a:pPr>
              <a:defRPr sz="1000">
                <a:solidFill>
                  <a:srgbClr val="A6BCD2"/>
                </a:solidFill>
                <a:latin typeface="Aptos"/>
              </a:defRPr>
            </a:pPr>
            <a:r>
              <a:t>Kevesebb külön kábelezés • egyszerűbb telepítés • áttekinthetőbb infrastruktúra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DCFF"/>
                </a:solidFill>
                <a:latin typeface="Aptos"/>
              </a:defRPr>
            </a:pPr>
            <a:r>
              <a:t>09 • ÜZEMELTETÉS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D"/>
                </a:solidFill>
                <a:latin typeface="Aptos Display"/>
              </a:defRPr>
            </a:pPr>
            <a:r>
              <a:t>Üzemeltetés, biztonság és hibakeresés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1247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CD2"/>
                </a:solidFill>
                <a:latin typeface="Aptos"/>
              </a:defRPr>
            </a:pPr>
            <a:r>
              <a:t>A működő hálózat mellett a fenntartható működés is cél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37360"/>
            <a:ext cx="3063240" cy="3246120"/>
          </a:xfrm>
          <a:prstGeom prst="roundRect">
            <a:avLst/>
          </a:prstGeom>
          <a:solidFill>
            <a:srgbClr val="0F243D"/>
          </a:solidFill>
          <a:ln w="15240">
            <a:solidFill>
              <a:srgbClr val="3D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" y="1965960"/>
            <a:ext cx="438912" cy="43891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9476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9FD"/>
                </a:solidFill>
                <a:latin typeface="Aptos Display"/>
              </a:defRPr>
            </a:pPr>
            <a:r>
              <a:t>BIZTONSÁG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6974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hozzáférés-védelem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védett hálózati működés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eszközök kezelése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2779776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77824" y="3090672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7824" y="3401568"/>
            <a:ext cx="64008" cy="64008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60520" y="1737360"/>
            <a:ext cx="3063240" cy="3246120"/>
          </a:xfrm>
          <a:prstGeom prst="roundRect">
            <a:avLst/>
          </a:prstGeom>
          <a:solidFill>
            <a:srgbClr val="0F243D"/>
          </a:solidFill>
          <a:ln w="15240">
            <a:solidFill>
              <a:srgbClr val="FF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43400" y="1965960"/>
            <a:ext cx="438912" cy="438912"/>
          </a:xfrm>
          <a:prstGeom prst="ellipse">
            <a:avLst/>
          </a:prstGeom>
          <a:solidFill>
            <a:srgbClr val="FF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19476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9FD"/>
                </a:solidFill>
                <a:latin typeface="Aptos Display"/>
              </a:defRPr>
            </a:pPr>
            <a:r>
              <a:t>HIBAKERESÉS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6974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elérhetőség ellenőrzése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ping alapú vizsgálat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kapcsolatkimaradások felismerése</a:t>
            </a:r>
          </a:p>
        </p:txBody>
      </p:sp>
      <p:sp>
        <p:nvSpPr>
          <p:cNvPr id="25" name="Oval 24"/>
          <p:cNvSpPr/>
          <p:nvPr/>
        </p:nvSpPr>
        <p:spPr>
          <a:xfrm>
            <a:off x="4398264" y="2779776"/>
            <a:ext cx="64008" cy="64008"/>
          </a:xfrm>
          <a:prstGeom prst="ellipse">
            <a:avLst/>
          </a:prstGeom>
          <a:solidFill>
            <a:srgbClr val="FF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98264" y="3090672"/>
            <a:ext cx="64008" cy="64008"/>
          </a:xfrm>
          <a:prstGeom prst="ellipse">
            <a:avLst/>
          </a:prstGeom>
          <a:solidFill>
            <a:srgbClr val="FF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398264" y="3401568"/>
            <a:ext cx="64008" cy="64008"/>
          </a:xfrm>
          <a:prstGeom prst="ellipse">
            <a:avLst/>
          </a:prstGeom>
          <a:solidFill>
            <a:srgbClr val="FF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680960" y="1737360"/>
            <a:ext cx="3063240" cy="3246120"/>
          </a:xfrm>
          <a:prstGeom prst="roundRect">
            <a:avLst/>
          </a:prstGeom>
          <a:solidFill>
            <a:srgbClr val="0F243D"/>
          </a:solidFill>
          <a:ln w="15240">
            <a:solidFill>
              <a:srgbClr val="5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63840" y="1965960"/>
            <a:ext cx="438912" cy="438912"/>
          </a:xfrm>
          <a:prstGeom prst="ellipse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19476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9FD"/>
                </a:solidFill>
                <a:latin typeface="Aptos Display"/>
              </a:defRPr>
            </a:pPr>
            <a:r>
              <a:t>KARBANTARTÁS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26974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eszközök állapotának figyelése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rádiós kapcsolatok felügyelete</a:t>
            </a:r>
          </a:p>
          <a:p>
            <a:pPr>
              <a:spcAft>
                <a:spcPts val="900"/>
              </a:spcAft>
              <a:defRPr sz="1100">
                <a:solidFill>
                  <a:srgbClr val="F5F9FD"/>
                </a:solidFill>
                <a:latin typeface="Aptos"/>
              </a:defRPr>
            </a:pPr>
            <a:r>
              <a:t>üzemeltetési ellenőrzések</a:t>
            </a:r>
          </a:p>
        </p:txBody>
      </p:sp>
      <p:sp>
        <p:nvSpPr>
          <p:cNvPr id="32" name="Oval 31"/>
          <p:cNvSpPr/>
          <p:nvPr/>
        </p:nvSpPr>
        <p:spPr>
          <a:xfrm>
            <a:off x="7918704" y="2779776"/>
            <a:ext cx="64008" cy="64008"/>
          </a:xfrm>
          <a:prstGeom prst="ellipse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918704" y="3090672"/>
            <a:ext cx="64008" cy="64008"/>
          </a:xfrm>
          <a:prstGeom prst="ellipse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918704" y="3401568"/>
            <a:ext cx="64008" cy="64008"/>
          </a:xfrm>
          <a:prstGeom prst="ellipse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9FD"/>
                </a:solidFill>
                <a:latin typeface="Aptos Display"/>
              </a:defRPr>
            </a:pPr>
            <a:r>
              <a:t>A jó hálózat nemcsak működik — mérhető, felügyelhető és karbantartható.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5577840"/>
            <a:ext cx="3474720" cy="3474720"/>
          </a:xfrm>
          <a:prstGeom prst="ellipse">
            <a:avLst/>
          </a:prstGeom>
          <a:solidFill>
            <a:srgbClr val="0B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19202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521208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94560" y="6035040"/>
            <a:ext cx="73152" cy="73152"/>
          </a:xfrm>
          <a:prstGeom prst="ellipse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93192"/>
            <a:ext cx="1051560" cy="41148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DDCFF"/>
                </a:solidFill>
                <a:latin typeface="Aptos Display"/>
              </a:defRPr>
            </a:pPr>
            <a:r>
              <a:t>ÖSSZEGZÉS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73736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F9FD"/>
                </a:solidFill>
                <a:latin typeface="Aptos Display"/>
              </a:defRPr>
            </a:pPr>
            <a:r>
              <a:t>Egy összekapcsolt, felügyelhető hálózati rendszer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2468880" cy="155448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MikroTik</a:t>
            </a:r>
          </a:p>
          <a:p>
            <a:pPr>
              <a:defRPr sz="2200" b="1">
                <a:solidFill>
                  <a:srgbClr val="3DDCFF"/>
                </a:solidFill>
                <a:latin typeface="Aptos Display"/>
              </a:defRPr>
            </a:pPr>
            <a:r>
              <a:t>központi útválasztás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71800"/>
            <a:ext cx="54864" cy="1554480"/>
          </a:xfrm>
          <a:prstGeom prst="rect">
            <a:avLst/>
          </a:prstGeom>
          <a:solidFill>
            <a:srgbClr val="3D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66160" y="2971800"/>
            <a:ext cx="2468880" cy="155448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PowerBeam</a:t>
            </a:r>
          </a:p>
          <a:p>
            <a:pPr>
              <a:defRPr sz="2200" b="1">
                <a:solidFill>
                  <a:srgbClr val="3082FF"/>
                </a:solidFill>
                <a:latin typeface="Aptos Display"/>
              </a:defRPr>
            </a:pPr>
            <a:r>
              <a:t>5 GHz-es gerinc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971800"/>
            <a:ext cx="54864" cy="1554480"/>
          </a:xfrm>
          <a:prstGeom prst="rect">
            <a:avLst/>
          </a:prstGeom>
          <a:solidFill>
            <a:srgbClr val="3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79" y="2971800"/>
            <a:ext cx="2468880" cy="155448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NetXMS</a:t>
            </a:r>
          </a:p>
          <a:p>
            <a:pPr>
              <a:defRPr sz="2200" b="1">
                <a:solidFill>
                  <a:srgbClr val="FFB04A"/>
                </a:solidFill>
                <a:latin typeface="Aptos Display"/>
              </a:defRPr>
            </a:pPr>
            <a:r>
              <a:t>monitoring és hibajelzés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2971800"/>
            <a:ext cx="54864" cy="1554480"/>
          </a:xfrm>
          <a:prstGeom prst="rect">
            <a:avLst/>
          </a:prstGeom>
          <a:solidFill>
            <a:srgbClr val="FF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3999" y="2971800"/>
            <a:ext cx="2468880" cy="1554480"/>
          </a:xfrm>
          <a:prstGeom prst="roundRect">
            <a:avLst/>
          </a:prstGeom>
          <a:solidFill>
            <a:srgbClr val="0F243D"/>
          </a:solidFill>
          <a:ln w="12700">
            <a:solidFill>
              <a:srgbClr val="1F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000" b="1">
                <a:solidFill>
                  <a:srgbClr val="A6BCD2"/>
                </a:solidFill>
                <a:latin typeface="Aptos"/>
              </a:defRPr>
            </a:pPr>
            <a:r>
              <a:t>PoE + kamera</a:t>
            </a:r>
          </a:p>
          <a:p>
            <a:pPr>
              <a:defRPr sz="2200" b="1">
                <a:solidFill>
                  <a:srgbClr val="53DCA0"/>
                </a:solidFill>
                <a:latin typeface="Aptos Display"/>
              </a:defRPr>
            </a:pPr>
            <a:r>
              <a:t>strukturált végpontok</a:t>
            </a:r>
          </a:p>
          <a:p>
            <a:pPr>
              <a:defRPr sz="850">
                <a:solidFill>
                  <a:srgbClr val="A6BC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3999" y="2971800"/>
            <a:ext cx="54864" cy="1554480"/>
          </a:xfrm>
          <a:prstGeom prst="rect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5F9FD"/>
                </a:solidFill>
                <a:latin typeface="Aptos Display"/>
              </a:defRPr>
            </a:pPr>
            <a:r>
              <a:t>Köszönöm a figyelmet!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6BCD2"/>
                </a:solidFill>
                <a:latin typeface="Aptos"/>
              </a:defRPr>
            </a:pPr>
            <a:r>
              <a:t>Hálózati infrastruktúra • projektbemutató •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6BCD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546</Words>
  <Application>Microsoft Office PowerPoint</Application>
  <PresentationFormat>Szélesvásznú</PresentationFormat>
  <Paragraphs>174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Kovacs Lajos</cp:lastModifiedBy>
  <cp:revision>2</cp:revision>
  <dcterms:created xsi:type="dcterms:W3CDTF">2013-01-27T09:14:16Z</dcterms:created>
  <dcterms:modified xsi:type="dcterms:W3CDTF">2026-09-14T05:37:35Z</dcterms:modified>
  <cp:category/>
</cp:coreProperties>
</file>